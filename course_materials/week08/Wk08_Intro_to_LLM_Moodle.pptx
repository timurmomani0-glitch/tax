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02" r:id="rId2"/>
    <p:sldId id="451" r:id="rId3"/>
    <p:sldId id="475" r:id="rId4"/>
    <p:sldId id="469" r:id="rId5"/>
    <p:sldId id="491" r:id="rId6"/>
    <p:sldId id="490" r:id="rId7"/>
    <p:sldId id="474" r:id="rId8"/>
    <p:sldId id="477" r:id="rId9"/>
    <p:sldId id="498" r:id="rId10"/>
    <p:sldId id="482" r:id="rId11"/>
    <p:sldId id="495" r:id="rId12"/>
    <p:sldId id="492" r:id="rId13"/>
    <p:sldId id="494" r:id="rId14"/>
    <p:sldId id="488" r:id="rId15"/>
    <p:sldId id="484" r:id="rId16"/>
    <p:sldId id="483" r:id="rId17"/>
    <p:sldId id="485" r:id="rId18"/>
    <p:sldId id="473" r:id="rId19"/>
  </p:sldIdLst>
  <p:sldSz cx="12192000" cy="6858000"/>
  <p:notesSz cx="6858000" cy="987425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3522" userDrawn="1">
          <p15:clr>
            <a:srgbClr val="A4A3A4"/>
          </p15:clr>
        </p15:guide>
        <p15:guide id="8" orient="horz" pos="278" userDrawn="1">
          <p15:clr>
            <a:srgbClr val="A4A3A4"/>
          </p15:clr>
        </p15:guide>
        <p15:guide id="9" orient="horz" pos="2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AAA7"/>
    <a:srgbClr val="C9122B"/>
    <a:srgbClr val="394A59"/>
    <a:srgbClr val="F2F2F2"/>
    <a:srgbClr val="8A857E"/>
    <a:srgbClr val="999999"/>
    <a:srgbClr val="CC3333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6247" autoAdjust="0"/>
  </p:normalViewPr>
  <p:slideViewPr>
    <p:cSldViewPr snapToGrid="0">
      <p:cViewPr varScale="1">
        <p:scale>
          <a:sx n="81" d="100"/>
          <a:sy n="81" d="100"/>
        </p:scale>
        <p:origin x="696" y="270"/>
      </p:cViewPr>
      <p:guideLst>
        <p:guide pos="3522"/>
        <p:guide orient="horz" pos="278"/>
        <p:guide orient="horz" pos="2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6890E1-32F7-4BB9-BD7D-BAEC8E384EE8}" type="datetime1">
              <a:rPr lang="en-US" altLang="en-US"/>
              <a:pPr/>
              <a:t>3/16/2026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718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378824"/>
            <a:ext cx="29718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D80652-3E7B-4F31-9135-E9386C8A87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444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41363"/>
            <a:ext cx="657860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90269"/>
            <a:ext cx="5486400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824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378824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EFDF52-FA57-44AE-B620-D0CF8AD5C17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92920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35059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FEC7-0130-DF31-874B-41638B48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22820-4BE5-57E7-4490-BC4AD9C18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83E97-66BF-E699-E490-219EF0556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093B0-EA17-AFAD-C75B-23E5F74D0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3335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E8B5-88C1-9A44-0C4E-F1C61ED1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8F411-2296-1F11-FAED-BD75442B8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33503-5F92-4D7E-9260-F891B02A5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DD3B3-51A7-2708-2D2A-E541F7A8E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1391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70AE-986B-B6B9-F365-2959C1A0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01150-DE85-27D1-60CD-3876BA195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3A42-713B-2640-ABDE-AEE470D8E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E7B51-A131-CE8E-9767-4A3E643C1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91169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31FD-3195-DB21-17B9-4CE0005E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A09AF-6456-3CAC-17D6-169F90A1E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86031-BA00-9568-C0B8-0C9195777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D95EC-977B-997A-5648-994E29C25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415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B015-866B-99C8-3F76-F77C48E5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6E762-3C13-4BCD-A880-51D09D6A6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D8FC9-4E61-CFFD-4DC0-3BD0215E3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DFFD9-E259-17F6-F57A-286DDC4C6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1245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3EF6-6881-287B-144E-30D620C3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DE3EB-E502-5398-038B-0ABA23DE6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6CD82-2EB1-57E5-F9B0-9E27D576B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DAE5B-32AA-A991-646E-8BB14ED7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7811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619D-0629-FE2A-1294-20548FC9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11013-8D2A-F5E4-96E2-09AF0CBD9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B8DA4-6583-5104-374D-CDC9C5549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E9F20-873B-90E2-942E-0D12AFD0E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9068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0F16-AD1F-EA37-5309-41427F21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D3490-83DC-35B8-B6A2-21FDA15C2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33987-49F9-5DE7-0E49-61CCEA1D2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03FDE-B745-2A7B-2318-8432774F9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7520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2A76-AD47-31BB-C808-A7C3BED4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6F730-43D4-E458-E916-D9850D8A9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BCAC5-45BE-4EA2-5B6F-3864CC928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1F536-B275-872E-1D4A-380617A9B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50764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AC43-0BA6-F727-5A64-62C2DC4B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8D635-6B86-E084-1417-A0A59ECFA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CD7D4-7096-A600-761E-F38C762ED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EC2DF-F45F-6CAB-671E-2D3E7BBB4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1022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7F5C-D3E0-4694-30D3-A2D832BA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AB75C-06FF-0587-DA75-D29422FDC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783E5-C97E-C14D-1AE4-0E308CE21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173EF-F9A2-F1B1-12CC-430E7A0A9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5954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F453-2537-6FFA-6CEE-F8A7C262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72D1B-9511-DCB4-687A-4079BB3DE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F06CD-E177-A6DC-F9E9-131996A48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A9C39-F261-16A4-C6F8-DFB33B871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8847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4022-4B7C-2814-261C-6C52A7F2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3BAA7-595E-15E4-E55F-BCDA810AF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B5250-D202-87B2-1A87-AAF4BD622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62E48-D91C-C641-5EAE-8C629C373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79580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3A55-292A-EF01-ACF1-1EDF7C65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24A49-0C05-EC2F-04ED-F32666A38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72E39-A6D5-FF6B-F197-A1FA8BC08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CC6B4-C084-121C-AF21-1BAB973A9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53728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E325-DDAB-5C24-84C4-8799F5E8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0971B-2618-33EB-0326-C6D894DDF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C2B30-EF80-3377-75D2-961F76A0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3523-6A77-93B6-C69D-F2F5C0D3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1302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AD7E-A43B-A272-AB9C-59809767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EE2D3-BFFE-FFEC-8D49-7B7DC47F9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88561-2C15-426C-00C7-848365862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9779D-C63B-50F1-C7C4-E7EA2827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1902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66D3-DBB2-C724-FF64-E5D84678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B18C7-CBF1-B71F-41E3-9E4FC5122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112E7-2E98-38F6-2799-4DFCFC870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7021B-4701-6168-E9AA-6DA2494C6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DF52-FA57-44AE-B620-D0CF8AD5C17A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3148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4398154"/>
            <a:ext cx="7855028" cy="48315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307814"/>
            <a:ext cx="785502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180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20888"/>
            <a:ext cx="7870371" cy="1008112"/>
          </a:xfrm>
          <a:noFill/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 userDrawn="1">
            <p:ph type="body" sz="half" idx="2"/>
          </p:nvPr>
        </p:nvSpPr>
        <p:spPr>
          <a:xfrm>
            <a:off x="0" y="3556049"/>
            <a:ext cx="7870371" cy="881062"/>
          </a:xfrm>
          <a:noFill/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6BB46-615C-864A-AB74-6E6500D8B82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-1" y="6381549"/>
            <a:ext cx="7870371" cy="311082"/>
          </a:xfrm>
          <a:noFill/>
        </p:spPr>
        <p:txBody>
          <a:bodyPr anchor="ctr"/>
          <a:lstStyle>
            <a:lvl1pPr marL="0" indent="0" algn="ctr">
              <a:buNone/>
              <a:defRPr sz="1200">
                <a:solidFill>
                  <a:srgbClr val="999999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 dirty="0"/>
              <a:t>Bayes Business School (formerly Cass)</a:t>
            </a:r>
          </a:p>
        </p:txBody>
      </p:sp>
    </p:spTree>
    <p:extLst>
      <p:ext uri="{BB962C8B-B14F-4D97-AF65-F5344CB8AC3E}">
        <p14:creationId xmlns:p14="http://schemas.microsoft.com/office/powerpoint/2010/main" val="165989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4398154"/>
            <a:ext cx="7855028" cy="48315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Amasis MT Pro" panose="02040504050005020304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307814"/>
            <a:ext cx="785502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  <a:latin typeface="Amasis MT Pro" panose="02040504050005020304" pitchFamily="18" charset="0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B9C48-5B60-8FF6-4184-1665CF8FAA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7657"/>
          <a:stretch/>
        </p:blipFill>
        <p:spPr>
          <a:xfrm>
            <a:off x="3227292" y="1701261"/>
            <a:ext cx="1400443" cy="9345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60789C-2765-D903-F1D8-CE112A5A02A2}"/>
              </a:ext>
            </a:extLst>
          </p:cNvPr>
          <p:cNvSpPr/>
          <p:nvPr userDrawn="1"/>
        </p:nvSpPr>
        <p:spPr>
          <a:xfrm>
            <a:off x="3227292" y="2635768"/>
            <a:ext cx="1400443" cy="29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76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20888"/>
            <a:ext cx="7870371" cy="1008112"/>
          </a:xfrm>
          <a:noFill/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 userDrawn="1">
            <p:ph type="body" sz="half" idx="2"/>
          </p:nvPr>
        </p:nvSpPr>
        <p:spPr>
          <a:xfrm>
            <a:off x="0" y="3556049"/>
            <a:ext cx="7870371" cy="881062"/>
          </a:xfrm>
          <a:noFill/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6BB46-615C-864A-AB74-6E6500D8B82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-1" y="6381549"/>
            <a:ext cx="7870371" cy="311082"/>
          </a:xfrm>
          <a:noFill/>
        </p:spPr>
        <p:txBody>
          <a:bodyPr anchor="ctr"/>
          <a:lstStyle>
            <a:lvl1pPr marL="0" indent="0" algn="ctr">
              <a:buNone/>
              <a:defRPr sz="1200">
                <a:solidFill>
                  <a:srgbClr val="999999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 dirty="0"/>
              <a:t>Bayes Business School (formerly Cass)</a:t>
            </a:r>
          </a:p>
        </p:txBody>
      </p:sp>
    </p:spTree>
    <p:extLst>
      <p:ext uri="{BB962C8B-B14F-4D97-AF65-F5344CB8AC3E}">
        <p14:creationId xmlns:p14="http://schemas.microsoft.com/office/powerpoint/2010/main" val="365835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4398154"/>
            <a:ext cx="7855028" cy="48315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307814"/>
            <a:ext cx="785502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0019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20888"/>
            <a:ext cx="7870371" cy="1008112"/>
          </a:xfrm>
          <a:noFill/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 userDrawn="1">
            <p:ph type="body" sz="half" idx="2"/>
          </p:nvPr>
        </p:nvSpPr>
        <p:spPr>
          <a:xfrm>
            <a:off x="0" y="3556049"/>
            <a:ext cx="7870371" cy="881062"/>
          </a:xfrm>
          <a:noFill/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6BB46-615C-864A-AB74-6E6500D8B82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-1" y="6381549"/>
            <a:ext cx="7870371" cy="311082"/>
          </a:xfrm>
          <a:noFill/>
        </p:spPr>
        <p:txBody>
          <a:bodyPr anchor="ctr"/>
          <a:lstStyle>
            <a:lvl1pPr marL="0" indent="0" algn="ctr">
              <a:buNone/>
              <a:defRPr sz="1200">
                <a:solidFill>
                  <a:srgbClr val="999999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 dirty="0"/>
              <a:t>Bayes Business School (formerly Cass)</a:t>
            </a:r>
          </a:p>
        </p:txBody>
      </p:sp>
    </p:spTree>
    <p:extLst>
      <p:ext uri="{BB962C8B-B14F-4D97-AF65-F5344CB8AC3E}">
        <p14:creationId xmlns:p14="http://schemas.microsoft.com/office/powerpoint/2010/main" val="2002622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48" y="1076673"/>
            <a:ext cx="11315248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47" y="2032000"/>
            <a:ext cx="9497367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95E67-BB4C-07C1-49DC-FA9C71E0F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456" t="14674"/>
          <a:stretch/>
        </p:blipFill>
        <p:spPr>
          <a:xfrm>
            <a:off x="11077074" y="5598695"/>
            <a:ext cx="1114924" cy="12593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20120-55EE-6A45-6344-E524E5B4D2BA}"/>
              </a:ext>
            </a:extLst>
          </p:cNvPr>
          <p:cNvSpPr txBox="1"/>
          <p:nvPr userDrawn="1"/>
        </p:nvSpPr>
        <p:spPr>
          <a:xfrm>
            <a:off x="5938719" y="6488668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0D2858ED-550B-4788-9338-18FCFBF5CB63}" type="slidenum">
              <a:rPr lang="en-GB" sz="12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6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301" userDrawn="1">
          <p15:clr>
            <a:srgbClr val="FBAE40"/>
          </p15:clr>
        </p15:guide>
        <p15:guide id="3" pos="737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48" y="1076673"/>
            <a:ext cx="11315248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47" y="2032000"/>
            <a:ext cx="11315248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0AB6B20-3894-8747-812B-5A06C85618D6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785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301" userDrawn="1">
          <p15:clr>
            <a:srgbClr val="FBAE40"/>
          </p15:clr>
        </p15:guide>
        <p15:guide id="3" pos="737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C8CFC670-7372-8B41-AFE2-250E7D755F28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F6B355-92FE-8F40-AFC6-7F97430F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497" y="2032000"/>
            <a:ext cx="5453299" cy="28800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 sz="1800"/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 sz="1650"/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 sz="1500"/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/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37A479-2A14-1544-9DFD-0E49B60F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1076673"/>
            <a:ext cx="11315248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17C1E-EE6F-E246-8DCE-66C8D904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2032000"/>
            <a:ext cx="5658453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945A2B-0669-740B-C976-E96F56132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456" t="14674"/>
          <a:stretch/>
        </p:blipFill>
        <p:spPr>
          <a:xfrm>
            <a:off x="11077074" y="5598695"/>
            <a:ext cx="1114924" cy="125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41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 userDrawn="1">
          <p15:clr>
            <a:srgbClr val="FBAE40"/>
          </p15:clr>
        </p15:guide>
        <p15:guide id="2" pos="7379" userDrawn="1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961" userDrawn="1">
          <p15:clr>
            <a:srgbClr val="FBAE40"/>
          </p15:clr>
        </p15:guide>
        <p15:guide id="5" orient="horz" pos="324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C8CFC670-7372-8B41-AFE2-250E7D755F28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F6B355-92FE-8F40-AFC6-7F97430F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497" y="2032000"/>
            <a:ext cx="5453299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 sz="1800"/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 sz="1650"/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 sz="1500"/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/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37A479-2A14-1544-9DFD-0E49B60F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1076673"/>
            <a:ext cx="11315248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17C1E-EE6F-E246-8DCE-66C8D904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2032000"/>
            <a:ext cx="5658453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 userDrawn="1">
          <p15:clr>
            <a:srgbClr val="FBAE40"/>
          </p15:clr>
        </p15:guide>
        <p15:guide id="2" pos="7379" userDrawn="1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961" userDrawn="1">
          <p15:clr>
            <a:srgbClr val="FBAE40"/>
          </p15:clr>
        </p15:guide>
        <p15:guide id="5" orient="horz" pos="324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8345D86-D420-FF49-8849-9F3A0AD28E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99497" y="2032000"/>
            <a:ext cx="5453299" cy="28800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C4F8A-2C62-7940-AF89-BC96A69A4ECF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96A52-D758-0B4A-89BF-3CD4F599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1076673"/>
            <a:ext cx="11315248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1ADA29-50F7-A347-969E-20006A64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2032000"/>
            <a:ext cx="5658453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CFAF1C-DFDB-C50C-15DF-8B3B60629D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456" t="14674"/>
          <a:stretch/>
        </p:blipFill>
        <p:spPr>
          <a:xfrm>
            <a:off x="11077074" y="5598695"/>
            <a:ext cx="1114924" cy="125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34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pos="301" userDrawn="1">
          <p15:clr>
            <a:srgbClr val="FBAE40"/>
          </p15:clr>
        </p15:guide>
        <p15:guide id="3" pos="737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8345D86-D420-FF49-8849-9F3A0AD28E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99497" y="2031999"/>
            <a:ext cx="5453299" cy="44195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C4F8A-2C62-7940-AF89-BC96A69A4ECF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96A52-D758-0B4A-89BF-3CD4F599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1076673"/>
            <a:ext cx="11315248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1ADA29-50F7-A347-969E-20006A64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2032000"/>
            <a:ext cx="5658453" cy="441960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83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pos="301" userDrawn="1">
          <p15:clr>
            <a:srgbClr val="FBAE40"/>
          </p15:clr>
        </p15:guide>
        <p15:guide id="3" pos="737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9B93E9-946F-6845-8402-931426E9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107276"/>
            <a:ext cx="8565776" cy="51521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B72CCB6-2CD4-EF46-AEC6-D480E2696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547" y="1076672"/>
            <a:ext cx="11449653" cy="383532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E0B6D0F-76A7-FD4E-9B91-21EA5661F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7547" y="5684838"/>
            <a:ext cx="8565776" cy="73169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9A11334-6E9C-1F48-80CA-4CFE15157AD1}"/>
              </a:ext>
            </a:extLst>
          </p:cNvPr>
          <p:cNvSpPr>
            <a:spLocks/>
          </p:cNvSpPr>
          <p:nvPr userDrawn="1"/>
        </p:nvSpPr>
        <p:spPr bwMode="auto">
          <a:xfrm>
            <a:off x="-1633" y="81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EEDE9C-CCA7-3B64-F213-A817908E3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456" t="14674"/>
          <a:stretch/>
        </p:blipFill>
        <p:spPr>
          <a:xfrm>
            <a:off x="11077074" y="5598695"/>
            <a:ext cx="1114924" cy="125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65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79" userDrawn="1">
          <p15:clr>
            <a:srgbClr val="FBAE40"/>
          </p15:clr>
        </p15:guide>
        <p15:guide id="3" pos="30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9B93E9-946F-6845-8402-931426E9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107276"/>
            <a:ext cx="8565776" cy="51521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B72CCB6-2CD4-EF46-AEC6-D480E2696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547" y="1076672"/>
            <a:ext cx="11449653" cy="383532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E0B6D0F-76A7-FD4E-9B91-21EA5661F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7547" y="5684838"/>
            <a:ext cx="8565776" cy="73169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9A11334-6E9C-1F48-80CA-4CFE15157AD1}"/>
              </a:ext>
            </a:extLst>
          </p:cNvPr>
          <p:cNvSpPr>
            <a:spLocks/>
          </p:cNvSpPr>
          <p:nvPr userDrawn="1"/>
        </p:nvSpPr>
        <p:spPr bwMode="auto">
          <a:xfrm>
            <a:off x="-1633" y="81"/>
            <a:ext cx="739763" cy="720000"/>
          </a:xfrm>
          <a:custGeom>
            <a:avLst/>
            <a:gdLst/>
            <a:ahLst/>
            <a:cxnLst>
              <a:cxn ang="0">
                <a:pos x="1012" y="0"/>
              </a:cxn>
              <a:cxn ang="0">
                <a:pos x="506" y="0"/>
              </a:cxn>
              <a:cxn ang="0">
                <a:pos x="0" y="0"/>
              </a:cxn>
              <a:cxn ang="0">
                <a:pos x="0" y="506"/>
              </a:cxn>
              <a:cxn ang="0">
                <a:pos x="0" y="1013"/>
              </a:cxn>
              <a:cxn ang="0">
                <a:pos x="506" y="1013"/>
              </a:cxn>
              <a:cxn ang="0">
                <a:pos x="506" y="506"/>
              </a:cxn>
              <a:cxn ang="0">
                <a:pos x="1012" y="506"/>
              </a:cxn>
              <a:cxn ang="0">
                <a:pos x="1012" y="0"/>
              </a:cxn>
            </a:cxnLst>
            <a:rect l="0" t="0" r="r" b="b"/>
            <a:pathLst>
              <a:path w="1012" h="1013">
                <a:moveTo>
                  <a:pt x="1012" y="0"/>
                </a:moveTo>
                <a:lnTo>
                  <a:pt x="506" y="0"/>
                </a:lnTo>
                <a:lnTo>
                  <a:pt x="0" y="0"/>
                </a:lnTo>
                <a:lnTo>
                  <a:pt x="0" y="506"/>
                </a:lnTo>
                <a:lnTo>
                  <a:pt x="0" y="1013"/>
                </a:lnTo>
                <a:lnTo>
                  <a:pt x="506" y="1013"/>
                </a:lnTo>
                <a:lnTo>
                  <a:pt x="506" y="506"/>
                </a:lnTo>
                <a:lnTo>
                  <a:pt x="1012" y="506"/>
                </a:lnTo>
                <a:lnTo>
                  <a:pt x="1012" y="0"/>
                </a:lnTo>
                <a:close/>
              </a:path>
            </a:pathLst>
          </a:custGeom>
          <a:solidFill>
            <a:srgbClr val="B0AAA7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054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79" userDrawn="1">
          <p15:clr>
            <a:srgbClr val="FBAE40"/>
          </p15:clr>
        </p15:guide>
        <p15:guide id="3" pos="30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909458" y="2547717"/>
            <a:ext cx="6498772" cy="1762566"/>
          </a:xfrm>
        </p:spPr>
        <p:txBody>
          <a:bodyPr anchor="ctr" anchorCtr="0"/>
          <a:lstStyle>
            <a:lvl1pPr marL="0" indent="0" algn="ctr">
              <a:buNone/>
              <a:defRPr lang="en-US" sz="2000" smtClean="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Bayes Business School</a:t>
            </a:r>
          </a:p>
          <a:p>
            <a:pPr lvl="0"/>
            <a:r>
              <a:rPr lang="en-US" dirty="0"/>
              <a:t>(formerly Cass)</a:t>
            </a:r>
          </a:p>
          <a:p>
            <a:pPr lvl="0"/>
            <a:r>
              <a:rPr lang="en-US" dirty="0"/>
              <a:t>106 </a:t>
            </a:r>
            <a:r>
              <a:rPr lang="en-US" dirty="0" err="1"/>
              <a:t>Bunhill</a:t>
            </a:r>
            <a:r>
              <a:rPr lang="en-US" dirty="0"/>
              <a:t> Row</a:t>
            </a:r>
          </a:p>
          <a:p>
            <a:pPr lvl="0"/>
            <a:r>
              <a:rPr lang="en-US" dirty="0"/>
              <a:t>London EC1Y 8TZ</a:t>
            </a:r>
          </a:p>
          <a:p>
            <a:pPr lvl="0"/>
            <a:r>
              <a:rPr lang="en-US" dirty="0"/>
              <a:t>Tel + 44 (0)20 7040 8600</a:t>
            </a:r>
          </a:p>
          <a:p>
            <a:pPr lvl="0"/>
            <a:r>
              <a:rPr lang="en-US" dirty="0" err="1"/>
              <a:t>bayes.city.ac.uk</a:t>
            </a:r>
            <a:endParaRPr lang="en-US" dirty="0"/>
          </a:p>
        </p:txBody>
      </p:sp>
      <p:sp>
        <p:nvSpPr>
          <p:cNvPr id="25" name="AutoShape 3"/>
          <p:cNvSpPr>
            <a:spLocks noChangeAspect="1" noChangeArrowheads="1" noTextEdit="1"/>
          </p:cNvSpPr>
          <p:nvPr/>
        </p:nvSpPr>
        <p:spPr bwMode="auto">
          <a:xfrm>
            <a:off x="4271798" y="3249095"/>
            <a:ext cx="3936572" cy="2215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07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2" y="1991182"/>
            <a:ext cx="10759017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GB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2602367"/>
            <a:ext cx="10761133" cy="363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GB" alt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5064230" y="-77118"/>
            <a:ext cx="2063540" cy="20635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5" r:id="rId2"/>
    <p:sldLayoutId id="2147483681" r:id="rId3"/>
    <p:sldLayoutId id="2147483682" r:id="rId4"/>
    <p:sldLayoutId id="2147483683" r:id="rId5"/>
    <p:sldLayoutId id="2147483684" r:id="rId6"/>
    <p:sldLayoutId id="2147483659" r:id="rId7"/>
    <p:sldLayoutId id="2147483677" r:id="rId8"/>
    <p:sldLayoutId id="2147483660" r:id="rId9"/>
    <p:sldLayoutId id="2147483678" r:id="rId10"/>
    <p:sldLayoutId id="2147483661" r:id="rId11"/>
    <p:sldLayoutId id="2147483679" r:id="rId12"/>
    <p:sldLayoutId id="2147483665" r:id="rId13"/>
    <p:sldLayoutId id="2147483680" r:id="rId14"/>
    <p:sldLayoutId id="2147483667" r:id="rId1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Arial" pitchFamily="-110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Arial" pitchFamily="-110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Arial" pitchFamily="-110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Arial" pitchFamily="-110" charset="0"/>
          <a:ea typeface="ＭＳ Ｐゴシック" pitchFamily="-65" charset="-128"/>
          <a:cs typeface="ＭＳ Ｐゴシック" pitchFamily="-65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1650" b="1">
          <a:solidFill>
            <a:schemeClr val="tx2"/>
          </a:solidFill>
          <a:latin typeface="Arial" pitchFamily="-110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1650" b="1">
          <a:solidFill>
            <a:schemeClr val="tx2"/>
          </a:solidFill>
          <a:latin typeface="Arial" pitchFamily="-110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1650" b="1">
          <a:solidFill>
            <a:schemeClr val="tx2"/>
          </a:solidFill>
          <a:latin typeface="Arial" pitchFamily="-110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1650" b="1">
          <a:solidFill>
            <a:schemeClr val="tx2"/>
          </a:solidFill>
          <a:latin typeface="Arial" pitchFamily="-110" charset="0"/>
        </a:defRPr>
      </a:lvl9pPr>
    </p:titleStyle>
    <p:bodyStyle>
      <a:lvl1pPr marL="134541" indent="-134541" algn="l" rtl="0" eaLnBrk="1" fontAlgn="base" hangingPunct="1">
        <a:spcBef>
          <a:spcPct val="0"/>
        </a:spcBef>
        <a:spcAft>
          <a:spcPct val="0"/>
        </a:spcAft>
        <a:buClr>
          <a:srgbClr val="C9122B"/>
        </a:buClr>
        <a:buFont typeface="Lucida Grande"/>
        <a:buChar char="■"/>
        <a:defRPr sz="18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260747" indent="-125016" algn="l" rtl="0" eaLnBrk="1" fontAlgn="base" hangingPunct="1">
        <a:spcBef>
          <a:spcPct val="0"/>
        </a:spcBef>
        <a:spcAft>
          <a:spcPct val="0"/>
        </a:spcAft>
        <a:buClr>
          <a:srgbClr val="C9122B"/>
        </a:buClr>
        <a:buFont typeface="Lucida Grande"/>
        <a:buChar char="■"/>
        <a:defRPr sz="1650">
          <a:solidFill>
            <a:schemeClr val="tx1"/>
          </a:solidFill>
          <a:latin typeface="+mn-lt"/>
          <a:ea typeface="ＭＳ Ｐゴシック" pitchFamily="-110" charset="-128"/>
        </a:defRPr>
      </a:lvl2pPr>
      <a:lvl3pPr marL="403622" indent="-141685" algn="l" rtl="0" eaLnBrk="1" fontAlgn="base" hangingPunct="1">
        <a:spcBef>
          <a:spcPct val="0"/>
        </a:spcBef>
        <a:spcAft>
          <a:spcPct val="0"/>
        </a:spcAft>
        <a:buClr>
          <a:srgbClr val="C9122B"/>
        </a:buClr>
        <a:buFont typeface="Lucida Grande"/>
        <a:buChar char="■"/>
        <a:defRPr sz="1500">
          <a:solidFill>
            <a:schemeClr val="tx1"/>
          </a:solidFill>
          <a:latin typeface="+mn-lt"/>
          <a:ea typeface="ＭＳ Ｐゴシック" pitchFamily="-110" charset="-128"/>
        </a:defRPr>
      </a:lvl3pPr>
      <a:lvl4pPr marL="534591" indent="-129779" algn="l" rtl="0" eaLnBrk="1" fontAlgn="base" hangingPunct="1">
        <a:spcBef>
          <a:spcPct val="0"/>
        </a:spcBef>
        <a:spcAft>
          <a:spcPct val="0"/>
        </a:spcAft>
        <a:buClr>
          <a:srgbClr val="C9122B"/>
        </a:buClr>
        <a:buFont typeface="Lucida Grande"/>
        <a:buChar char="■"/>
        <a:defRPr sz="1350">
          <a:solidFill>
            <a:schemeClr val="tx1"/>
          </a:solidFill>
          <a:latin typeface="+mn-lt"/>
          <a:ea typeface="ＭＳ Ｐゴシック" pitchFamily="-110" charset="-128"/>
        </a:defRPr>
      </a:lvl4pPr>
      <a:lvl5pPr marL="673894" indent="-138113" algn="l" rtl="0" eaLnBrk="1" fontAlgn="base" hangingPunct="1">
        <a:spcBef>
          <a:spcPct val="0"/>
        </a:spcBef>
        <a:spcAft>
          <a:spcPct val="0"/>
        </a:spcAft>
        <a:buClr>
          <a:srgbClr val="C9122B"/>
        </a:buClr>
        <a:buFont typeface="Lucida Grande"/>
        <a:buChar char="■"/>
        <a:defRPr sz="1200">
          <a:solidFill>
            <a:schemeClr val="tx1"/>
          </a:solidFill>
          <a:latin typeface="+mn-lt"/>
          <a:ea typeface="ＭＳ Ｐゴシック" pitchFamily="-110" charset="-128"/>
        </a:defRPr>
      </a:lvl5pPr>
      <a:lvl6pPr marL="1016794" indent="-138113" algn="l" rtl="0" eaLnBrk="1" fontAlgn="base" hangingPunct="1">
        <a:spcBef>
          <a:spcPct val="0"/>
        </a:spcBef>
        <a:spcAft>
          <a:spcPct val="0"/>
        </a:spcAft>
        <a:buChar char="•"/>
        <a:defRPr sz="1650">
          <a:solidFill>
            <a:schemeClr val="tx1"/>
          </a:solidFill>
          <a:latin typeface="+mn-lt"/>
          <a:ea typeface="ＭＳ Ｐゴシック" pitchFamily="-110" charset="-128"/>
        </a:defRPr>
      </a:lvl6pPr>
      <a:lvl7pPr marL="1359694" indent="-138113" algn="l" rtl="0" eaLnBrk="1" fontAlgn="base" hangingPunct="1">
        <a:spcBef>
          <a:spcPct val="0"/>
        </a:spcBef>
        <a:spcAft>
          <a:spcPct val="0"/>
        </a:spcAft>
        <a:buChar char="•"/>
        <a:defRPr sz="1650">
          <a:solidFill>
            <a:schemeClr val="tx1"/>
          </a:solidFill>
          <a:latin typeface="+mn-lt"/>
          <a:ea typeface="ＭＳ Ｐゴシック" pitchFamily="-110" charset="-128"/>
        </a:defRPr>
      </a:lvl7pPr>
      <a:lvl8pPr marL="1702594" indent="-138113" algn="l" rtl="0" eaLnBrk="1" fontAlgn="base" hangingPunct="1">
        <a:spcBef>
          <a:spcPct val="0"/>
        </a:spcBef>
        <a:spcAft>
          <a:spcPct val="0"/>
        </a:spcAft>
        <a:buChar char="•"/>
        <a:defRPr sz="1650">
          <a:solidFill>
            <a:schemeClr val="tx1"/>
          </a:solidFill>
          <a:latin typeface="+mn-lt"/>
          <a:ea typeface="ＭＳ Ｐゴシック" pitchFamily="-110" charset="-128"/>
        </a:defRPr>
      </a:lvl8pPr>
      <a:lvl9pPr marL="2045494" indent="-138113" algn="l" rtl="0" eaLnBrk="1" fontAlgn="base" hangingPunct="1">
        <a:spcBef>
          <a:spcPct val="0"/>
        </a:spcBef>
        <a:spcAft>
          <a:spcPct val="0"/>
        </a:spcAft>
        <a:buChar char="•"/>
        <a:defRPr sz="165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i.dev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Macro-Enabled_Worksheet.xlsm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Document.docx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hyperlink" Target="https://assets.kpmg.com/content/dam/kpmg/xx/pdf/2024/04/ai-in-financial-reporting-and-audit-web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E459DF-19D4-CE08-5E9B-45C260DE4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3" y="2928966"/>
            <a:ext cx="6038850" cy="2614174"/>
          </a:xfrm>
        </p:spPr>
        <p:txBody>
          <a:bodyPr/>
          <a:lstStyle/>
          <a:p>
            <a:pPr>
              <a:spcAft>
                <a:spcPts val="1200"/>
              </a:spcAft>
              <a:buSzPct val="70000"/>
            </a:pPr>
            <a:r>
              <a:rPr lang="en-GB" sz="40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LLMs</a:t>
            </a:r>
            <a:br>
              <a:rPr lang="en-GB" sz="40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8</a:t>
            </a:r>
            <a:endParaRPr lang="en-US" sz="4000" i="1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94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BEB1-0D17-181A-A073-856DDBA4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27F59-9B74-2802-144A-CE713D6A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LLMs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D1F79E-9AD3-E6A7-A275-F69C79E1C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062355"/>
            <a:ext cx="10754327" cy="4875601"/>
          </a:xfrm>
        </p:spPr>
        <p:txBody>
          <a:bodyPr/>
          <a:lstStyle/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language model (LLM) is a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model trained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vast amount of text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designed for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language processing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(NLP)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tasks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possess any direct intelligence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apart from the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intelligence inherent in their training data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LLMs produce text one small piece at a time (a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Tokens can be words or parts of words (see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tokenizer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each step, the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predicts which token should come next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prompt and what it has already written so far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LLMs can be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fine-tuned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specific tasks or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guided by ‘prompt engineering’</a:t>
            </a:r>
            <a:endParaRPr lang="en-GB" sz="26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7F9A-E43B-A397-A02C-C7789220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5C3D-510E-DAA9-EC6A-88F4FFAC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main ways to access LLMs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B929C2-D805-2BEC-616E-77AD3E7DD2EC}"/>
              </a:ext>
            </a:extLst>
          </p:cNvPr>
          <p:cNvSpPr txBox="1"/>
          <p:nvPr/>
        </p:nvSpPr>
        <p:spPr>
          <a:xfrm>
            <a:off x="7422177" y="4446694"/>
            <a:ext cx="3276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Programmatically, via APIs</a:t>
            </a:r>
          </a:p>
          <a:p>
            <a:pPr algn="ctr"/>
            <a:r>
              <a:rPr lang="en-GB" sz="32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(Week 9)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FD1E5-F672-C026-B9D9-7AEB2D4210C0}"/>
              </a:ext>
            </a:extLst>
          </p:cNvPr>
          <p:cNvSpPr txBox="1"/>
          <p:nvPr/>
        </p:nvSpPr>
        <p:spPr>
          <a:xfrm>
            <a:off x="913229" y="4692916"/>
            <a:ext cx="4292991" cy="1077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chat interface</a:t>
            </a:r>
          </a:p>
          <a:p>
            <a:pPr algn="ctr"/>
            <a:r>
              <a:rPr lang="en-GB" sz="32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(Week 8)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C93606-DD98-E152-FBF7-A563E154B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06" y="1446963"/>
            <a:ext cx="5576836" cy="2999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0A7390-73C2-EAAD-2CBB-2EF05D879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860" y="2273497"/>
            <a:ext cx="5433083" cy="134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7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B7C56-C8F3-D2E9-4003-595A85F2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DFE6-C555-4E99-B8CB-E59718BF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challenge with using LLMs is the “hallucinations”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538F5E-5077-313A-FE4F-ABF8C8CE2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457011"/>
            <a:ext cx="10754327" cy="4480945"/>
          </a:xfrm>
        </p:spPr>
        <p:txBody>
          <a:bodyPr/>
          <a:lstStyle/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Hallucinations are where an LLM generates content that is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plausible and fluent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factually incorrect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nonsensical, or unfaithful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the provided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or instructions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arise because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LLMs generate text probabilistically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by predicting likely token sequences. Their answers are based on training data — not by verifying facts against a reliable source</a:t>
            </a:r>
            <a:endParaRPr lang="en-GB" sz="2600" b="1" i="1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(yet)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to 100% guarantee the same answer each time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however, it is possible to make answers extremely consistent</a:t>
            </a:r>
          </a:p>
        </p:txBody>
      </p:sp>
    </p:spTree>
    <p:extLst>
      <p:ext uri="{BB962C8B-B14F-4D97-AF65-F5344CB8AC3E}">
        <p14:creationId xmlns:p14="http://schemas.microsoft.com/office/powerpoint/2010/main" val="317509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7C9B-0D69-D9AF-C597-49DA32CC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E6CF-C988-1456-8A39-30E24D37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when you don’t address hallucinations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4FD0D-5FD7-E6A2-5EF6-65161D8BE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319"/>
          <a:stretch>
            <a:fillRect/>
          </a:stretch>
        </p:blipFill>
        <p:spPr>
          <a:xfrm>
            <a:off x="1136271" y="1302205"/>
            <a:ext cx="5818145" cy="18827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BADA0A-1B26-DFF4-853D-E012917F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134"/>
          <a:stretch>
            <a:fillRect/>
          </a:stretch>
        </p:blipFill>
        <p:spPr>
          <a:xfrm>
            <a:off x="3442631" y="3751991"/>
            <a:ext cx="8030511" cy="17536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395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90A8-A810-A141-8A10-FF65FDCA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2680-21A9-47A7-3DC1-64F5D420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session will </a:t>
            </a:r>
            <a:r>
              <a:rPr lang="en-US" sz="2800" dirty="0" err="1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summarise</a:t>
            </a: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several tools and techniques which can help mitigate the effects of hallucinations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515F7A-1086-E5CA-F70D-06057A9E2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768510"/>
            <a:ext cx="10754327" cy="4169446"/>
          </a:xfrm>
        </p:spPr>
        <p:txBody>
          <a:bodyPr/>
          <a:lstStyle/>
          <a:p>
            <a:pPr marL="514350" indent="-51435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Adjusting LLM </a:t>
            </a:r>
            <a:r>
              <a:rPr lang="en-GB" sz="28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hyperparameters</a:t>
            </a:r>
          </a:p>
          <a:p>
            <a:pPr marL="514350" indent="-51435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associated techniques</a:t>
            </a:r>
          </a:p>
          <a:p>
            <a:pPr marL="514350" indent="-51435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Retrieval-Augmented Generation 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(RAG)</a:t>
            </a:r>
          </a:p>
          <a:p>
            <a:pPr marL="514350" indent="-51435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AI-as-judge</a:t>
            </a:r>
          </a:p>
          <a:p>
            <a:pPr marL="514350" indent="-51435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sz="2800" b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Pinned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models)</a:t>
            </a:r>
          </a:p>
          <a:p>
            <a:pPr marL="514350" indent="-514350">
              <a:spcAft>
                <a:spcPts val="1200"/>
              </a:spcAft>
              <a:buSzPct val="100000"/>
              <a:buFont typeface="+mj-lt"/>
              <a:buAutoNum type="arabicParenR"/>
            </a:pPr>
            <a:endParaRPr lang="en-GB" sz="26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2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D76F6-9640-1CCD-FAA3-AA52A5BC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84B0-30F9-FB66-095B-4C56659F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Adjusting LLM (hyper)parameters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357C8-A188-F234-8C67-19BF49973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12721"/>
              </p:ext>
            </p:extLst>
          </p:nvPr>
        </p:nvGraphicFramePr>
        <p:xfrm>
          <a:off x="300867" y="1617784"/>
          <a:ext cx="11391654" cy="433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340">
                  <a:extLst>
                    <a:ext uri="{9D8B030D-6E8A-4147-A177-3AD203B41FA5}">
                      <a16:colId xmlns:a16="http://schemas.microsoft.com/office/drawing/2014/main" val="2633251323"/>
                    </a:ext>
                  </a:extLst>
                </a:gridCol>
                <a:gridCol w="3029968">
                  <a:extLst>
                    <a:ext uri="{9D8B030D-6E8A-4147-A177-3AD203B41FA5}">
                      <a16:colId xmlns:a16="http://schemas.microsoft.com/office/drawing/2014/main" val="3732533312"/>
                    </a:ext>
                  </a:extLst>
                </a:gridCol>
                <a:gridCol w="3363263">
                  <a:extLst>
                    <a:ext uri="{9D8B030D-6E8A-4147-A177-3AD203B41FA5}">
                      <a16:colId xmlns:a16="http://schemas.microsoft.com/office/drawing/2014/main" val="2116938253"/>
                    </a:ext>
                  </a:extLst>
                </a:gridCol>
                <a:gridCol w="3345083">
                  <a:extLst>
                    <a:ext uri="{9D8B030D-6E8A-4147-A177-3AD203B41FA5}">
                      <a16:colId xmlns:a16="http://schemas.microsoft.com/office/drawing/2014/main" val="4288472517"/>
                    </a:ext>
                  </a:extLst>
                </a:gridCol>
              </a:tblGrid>
              <a:tr h="461042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Settings</a:t>
                      </a:r>
                      <a:r>
                        <a:rPr lang="en-GB" sz="22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Considerations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76947"/>
                  </a:ext>
                </a:extLst>
              </a:tr>
              <a:tr h="1547784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Controls the “token pool” that the model selects from – a measure of </a:t>
                      </a:r>
                      <a:r>
                        <a:rPr lang="en-GB" sz="22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creativity/ breadth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Uses a smaller pool of words</a:t>
                      </a:r>
                    </a:p>
                    <a:p>
                      <a:r>
                        <a:rPr lang="en-GB" sz="22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Considers a broader range of words</a:t>
                      </a:r>
                    </a:p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[range: 0.0 – 1.0]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Trade off between creativity and determinism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07372"/>
                  </a:ext>
                </a:extLst>
              </a:tr>
              <a:tr h="1547784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Controls the degree of </a:t>
                      </a:r>
                      <a:r>
                        <a:rPr lang="en-GB" sz="22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randomness</a:t>
                      </a:r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 token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More likely to select the most probable tokens</a:t>
                      </a:r>
                    </a:p>
                    <a:p>
                      <a:r>
                        <a:rPr lang="en-GB" sz="22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More diversity (randomness) in the choice of tokens</a:t>
                      </a:r>
                    </a:p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[range: 0.0 - 1.0]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Trade off between creativity and determinism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4706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4FC525-7617-D025-1F25-22FE2074E4A3}"/>
              </a:ext>
            </a:extLst>
          </p:cNvPr>
          <p:cNvSpPr txBox="1"/>
          <p:nvPr/>
        </p:nvSpPr>
        <p:spPr>
          <a:xfrm>
            <a:off x="300867" y="5949786"/>
            <a:ext cx="4301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Temperature range is platform-dependent</a:t>
            </a:r>
          </a:p>
        </p:txBody>
      </p:sp>
    </p:spTree>
    <p:extLst>
      <p:ext uri="{BB962C8B-B14F-4D97-AF65-F5344CB8AC3E}">
        <p14:creationId xmlns:p14="http://schemas.microsoft.com/office/powerpoint/2010/main" val="212639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981B-34D9-C34C-6F5B-7EDBE118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FCEC-67E3-9DB6-AD6F-F84BB564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test the effect of different hyperparameters using Google AI Studio</a:t>
            </a:r>
            <a:b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file"/>
              </a:rPr>
              <a:t>ai.dev</a:t>
            </a: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E58F2F-BE4F-7122-C7BC-6BEDEC024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55670"/>
              </p:ext>
            </p:extLst>
          </p:nvPr>
        </p:nvGraphicFramePr>
        <p:xfrm>
          <a:off x="705753" y="1417123"/>
          <a:ext cx="10668204" cy="414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5365">
                  <a:extLst>
                    <a:ext uri="{9D8B030D-6E8A-4147-A177-3AD203B41FA5}">
                      <a16:colId xmlns:a16="http://schemas.microsoft.com/office/drawing/2014/main" val="1422000917"/>
                    </a:ext>
                  </a:extLst>
                </a:gridCol>
                <a:gridCol w="1993981">
                  <a:extLst>
                    <a:ext uri="{9D8B030D-6E8A-4147-A177-3AD203B41FA5}">
                      <a16:colId xmlns:a16="http://schemas.microsoft.com/office/drawing/2014/main" val="1775533048"/>
                    </a:ext>
                  </a:extLst>
                </a:gridCol>
                <a:gridCol w="2129429">
                  <a:extLst>
                    <a:ext uri="{9D8B030D-6E8A-4147-A177-3AD203B41FA5}">
                      <a16:colId xmlns:a16="http://schemas.microsoft.com/office/drawing/2014/main" val="2470201412"/>
                    </a:ext>
                  </a:extLst>
                </a:gridCol>
                <a:gridCol w="2129429">
                  <a:extLst>
                    <a:ext uri="{9D8B030D-6E8A-4147-A177-3AD203B41FA5}">
                      <a16:colId xmlns:a16="http://schemas.microsoft.com/office/drawing/2014/main" val="3855936075"/>
                    </a:ext>
                  </a:extLst>
                </a:gridCol>
              </a:tblGrid>
              <a:tr h="461111"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13960"/>
                  </a:ext>
                </a:extLst>
              </a:tr>
              <a:tr h="796409">
                <a:tc rowSpan="2"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6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Describe the most important responsibilities of a finance manager for a FTSE 100 company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Gemini-Flash-Lite-Latest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585983"/>
                  </a:ext>
                </a:extLst>
              </a:tr>
              <a:tr h="954291">
                <a:tc vMerge="1">
                  <a:txBody>
                    <a:bodyPr/>
                    <a:lstStyle/>
                    <a:p>
                      <a:endParaRPr lang="en-GB" sz="20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956347"/>
                  </a:ext>
                </a:extLst>
              </a:tr>
              <a:tr h="954291">
                <a:tc rowSpan="2">
                  <a:txBody>
                    <a:bodyPr/>
                    <a:lstStyle/>
                    <a:p>
                      <a:r>
                        <a:rPr lang="en-GB" sz="26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a paragraph which describes what cryptocurrencies are and why they are good investments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Gemini-Flash-Lite-Latest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210107"/>
                  </a:ext>
                </a:extLst>
              </a:tr>
              <a:tr h="954291">
                <a:tc vMerge="1">
                  <a:txBody>
                    <a:bodyPr/>
                    <a:lstStyle/>
                    <a:p>
                      <a:endParaRPr lang="en-GB" sz="26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032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92A04D-FE21-77CC-68C7-DA76EED086D2}"/>
              </a:ext>
            </a:extLst>
          </p:cNvPr>
          <p:cNvSpPr txBox="1"/>
          <p:nvPr/>
        </p:nvSpPr>
        <p:spPr>
          <a:xfrm>
            <a:off x="705753" y="5686253"/>
            <a:ext cx="808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Models usually only offer Temperature in a range of 0-1. Gemini offers a 0-2 range.</a:t>
            </a:r>
          </a:p>
        </p:txBody>
      </p:sp>
    </p:spTree>
    <p:extLst>
      <p:ext uri="{BB962C8B-B14F-4D97-AF65-F5344CB8AC3E}">
        <p14:creationId xmlns:p14="http://schemas.microsoft.com/office/powerpoint/2010/main" val="226544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F56DC-EB0E-C91F-91B6-6037541F0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2340-F7C7-9E2F-2AEF-20830A73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guidelines for </a:t>
            </a:r>
            <a:r>
              <a:rPr lang="en-US" sz="2800" dirty="0" err="1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Top_P</a:t>
            </a: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Temperature settings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10B647-42C5-F334-511A-4BA86D346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50642"/>
              </p:ext>
            </p:extLst>
          </p:nvPr>
        </p:nvGraphicFramePr>
        <p:xfrm>
          <a:off x="1084137" y="1533215"/>
          <a:ext cx="9926989" cy="3383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192">
                  <a:extLst>
                    <a:ext uri="{9D8B030D-6E8A-4147-A177-3AD203B41FA5}">
                      <a16:colId xmlns:a16="http://schemas.microsoft.com/office/drawing/2014/main" val="2633251323"/>
                    </a:ext>
                  </a:extLst>
                </a:gridCol>
                <a:gridCol w="3006269">
                  <a:extLst>
                    <a:ext uri="{9D8B030D-6E8A-4147-A177-3AD203B41FA5}">
                      <a16:colId xmlns:a16="http://schemas.microsoft.com/office/drawing/2014/main" val="3732533312"/>
                    </a:ext>
                  </a:extLst>
                </a:gridCol>
                <a:gridCol w="2082046">
                  <a:extLst>
                    <a:ext uri="{9D8B030D-6E8A-4147-A177-3AD203B41FA5}">
                      <a16:colId xmlns:a16="http://schemas.microsoft.com/office/drawing/2014/main" val="2116938253"/>
                    </a:ext>
                  </a:extLst>
                </a:gridCol>
                <a:gridCol w="2061482">
                  <a:extLst>
                    <a:ext uri="{9D8B030D-6E8A-4147-A177-3AD203B41FA5}">
                      <a16:colId xmlns:a16="http://schemas.microsoft.com/office/drawing/2014/main" val="4288472517"/>
                    </a:ext>
                  </a:extLst>
                </a:gridCol>
              </a:tblGrid>
              <a:tr h="532453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 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Top_P</a:t>
                      </a:r>
                      <a:endParaRPr lang="en-GB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Temperature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76947"/>
                  </a:ext>
                </a:extLst>
              </a:tr>
              <a:tr h="950428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Facts</a:t>
                      </a:r>
                    </a:p>
                    <a:p>
                      <a:r>
                        <a:rPr lang="en-GB" sz="2400" b="1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Calculations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116044"/>
                  </a:ext>
                </a:extLst>
              </a:tr>
              <a:tr h="950428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Controlled creativity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CV/ LinkedIn profile</a:t>
                      </a:r>
                    </a:p>
                    <a:p>
                      <a:endParaRPr lang="en-GB" sz="2400" b="0" i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07372"/>
                  </a:ext>
                </a:extLst>
              </a:tr>
              <a:tr h="950428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Highly creative/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Creative arts?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4706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EF721E-F0D2-0335-AE92-C5AEF895857D}"/>
              </a:ext>
            </a:extLst>
          </p:cNvPr>
          <p:cNvSpPr txBox="1"/>
          <p:nvPr/>
        </p:nvSpPr>
        <p:spPr>
          <a:xfrm>
            <a:off x="1084137" y="5056911"/>
            <a:ext cx="5854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Temperature range is platform-dependent, but usually 0-1.</a:t>
            </a:r>
          </a:p>
        </p:txBody>
      </p:sp>
    </p:spTree>
    <p:extLst>
      <p:ext uri="{BB962C8B-B14F-4D97-AF65-F5344CB8AC3E}">
        <p14:creationId xmlns:p14="http://schemas.microsoft.com/office/powerpoint/2010/main" val="403209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3B345-6229-CFEE-2DA1-C688390B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012E-A1B3-EE67-D0BD-A069507E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“Prompt engineering” helps to mitigate hallucinations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F16167-F6B7-49E0-6847-446F2C0D9E9B}"/>
              </a:ext>
            </a:extLst>
          </p:cNvPr>
          <p:cNvSpPr txBox="1"/>
          <p:nvPr/>
        </p:nvSpPr>
        <p:spPr>
          <a:xfrm>
            <a:off x="7397791" y="111871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C22AB-AC3D-C66B-D591-3BB91E1F71F9}"/>
              </a:ext>
            </a:extLst>
          </p:cNvPr>
          <p:cNvSpPr txBox="1"/>
          <p:nvPr/>
        </p:nvSpPr>
        <p:spPr>
          <a:xfrm>
            <a:off x="10260809" y="286617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(2)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DCADF4-B8AD-B454-809C-0930BD06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457011"/>
            <a:ext cx="10754327" cy="4480945"/>
          </a:xfrm>
        </p:spPr>
        <p:txBody>
          <a:bodyPr/>
          <a:lstStyle/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crafting of detailed instructions to guide an AI (LLM) toward better outputs</a:t>
            </a:r>
          </a:p>
          <a:p>
            <a:pPr marL="360363" indent="-360363">
              <a:spcAft>
                <a:spcPts val="1200"/>
              </a:spcAft>
              <a:buSzPct val="70000"/>
            </a:pPr>
            <a:endParaRPr lang="en-GB" sz="26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important to differentiate between the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techniques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is a structured conduit </a:t>
            </a: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delivering several techniques to the AI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 is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 solution on its own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6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idea is to </a:t>
            </a:r>
            <a:r>
              <a:rPr lang="en-GB" sz="26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the truth</a:t>
            </a:r>
          </a:p>
        </p:txBody>
      </p:sp>
    </p:spTree>
    <p:extLst>
      <p:ext uri="{BB962C8B-B14F-4D97-AF65-F5344CB8AC3E}">
        <p14:creationId xmlns:p14="http://schemas.microsoft.com/office/powerpoint/2010/main" val="3325001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1DAF-D9BB-A29D-459E-221B0828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D66E-08C7-DA65-3C57-442C1C67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 ‘template’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3219911B-3C72-EC27-F044-EEF7E02855C0}"/>
              </a:ext>
            </a:extLst>
          </p:cNvPr>
          <p:cNvSpPr/>
          <p:nvPr/>
        </p:nvSpPr>
        <p:spPr>
          <a:xfrm>
            <a:off x="1231972" y="1015871"/>
            <a:ext cx="6765420" cy="4352542"/>
          </a:xfrm>
          <a:prstGeom prst="flowChartDocumen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9000">
                <a:schemeClr val="bg1">
                  <a:lumMod val="85000"/>
                </a:schemeClr>
              </a:gs>
            </a:gsLst>
          </a:gra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chemeClr val="tx1"/>
                </a:solidFill>
              </a:rPr>
              <a:t>## OBJECTIVE_AND_PERSONA</a:t>
            </a:r>
          </a:p>
          <a:p>
            <a:r>
              <a:rPr lang="en-GB" sz="1050" dirty="0">
                <a:solidFill>
                  <a:schemeClr val="tx1"/>
                </a:solidFill>
              </a:rPr>
              <a:t>You are a [insert a persona, such as a "math teacher" or "automotive expert"]. Your task is to...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100" b="1" dirty="0">
                <a:solidFill>
                  <a:schemeClr val="tx1"/>
                </a:solidFill>
              </a:rPr>
              <a:t>## INSTRUCTIONS</a:t>
            </a:r>
          </a:p>
          <a:p>
            <a:r>
              <a:rPr lang="en-GB" sz="1050" dirty="0">
                <a:solidFill>
                  <a:schemeClr val="tx1"/>
                </a:solidFill>
              </a:rPr>
              <a:t>To complete the task, you need to follow these steps:</a:t>
            </a:r>
          </a:p>
          <a:p>
            <a:r>
              <a:rPr lang="en-GB" sz="1050" dirty="0">
                <a:solidFill>
                  <a:schemeClr val="tx1"/>
                </a:solidFill>
              </a:rPr>
              <a:t>1.</a:t>
            </a:r>
          </a:p>
          <a:p>
            <a:r>
              <a:rPr lang="en-GB" sz="1050" dirty="0">
                <a:solidFill>
                  <a:schemeClr val="tx1"/>
                </a:solidFill>
              </a:rPr>
              <a:t>2....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050" dirty="0">
                <a:solidFill>
                  <a:schemeClr val="tx1"/>
                </a:solidFill>
              </a:rPr>
              <a:t>---</a:t>
            </a:r>
          </a:p>
          <a:p>
            <a:r>
              <a:rPr lang="en-GB" sz="1050" dirty="0">
                <a:solidFill>
                  <a:schemeClr val="tx1"/>
                </a:solidFill>
              </a:rPr>
              <a:t>*Optional Components*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050" dirty="0">
                <a:solidFill>
                  <a:schemeClr val="tx1"/>
                </a:solidFill>
              </a:rPr>
              <a:t>---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100" b="1" dirty="0">
                <a:solidFill>
                  <a:schemeClr val="tx1"/>
                </a:solidFill>
              </a:rPr>
              <a:t>## CONSTRAINTS</a:t>
            </a:r>
          </a:p>
          <a:p>
            <a:r>
              <a:rPr lang="en-GB" sz="1050" dirty="0">
                <a:solidFill>
                  <a:schemeClr val="tx1"/>
                </a:solidFill>
              </a:rPr>
              <a:t>Dos and don'ts for the following aspects</a:t>
            </a:r>
          </a:p>
          <a:p>
            <a:r>
              <a:rPr lang="en-GB" sz="1050" dirty="0">
                <a:solidFill>
                  <a:schemeClr val="tx1"/>
                </a:solidFill>
              </a:rPr>
              <a:t>1. Dos</a:t>
            </a:r>
          </a:p>
          <a:p>
            <a:r>
              <a:rPr lang="en-GB" sz="1050" dirty="0">
                <a:solidFill>
                  <a:schemeClr val="tx1"/>
                </a:solidFill>
              </a:rPr>
              <a:t>2. Don'ts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100" b="1" dirty="0">
                <a:solidFill>
                  <a:schemeClr val="tx1"/>
                </a:solidFill>
              </a:rPr>
              <a:t>## CONTEXT</a:t>
            </a:r>
          </a:p>
          <a:p>
            <a:r>
              <a:rPr lang="en-GB" sz="1050" dirty="0">
                <a:solidFill>
                  <a:schemeClr val="tx1"/>
                </a:solidFill>
              </a:rPr>
              <a:t>The provided context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7777C4A1-3E2D-4152-E7B7-E25C1C488EB5}"/>
              </a:ext>
            </a:extLst>
          </p:cNvPr>
          <p:cNvSpPr/>
          <p:nvPr/>
        </p:nvSpPr>
        <p:spPr>
          <a:xfrm rot="10800000">
            <a:off x="4195579" y="2550660"/>
            <a:ext cx="6765420" cy="3770217"/>
          </a:xfrm>
          <a:prstGeom prst="flowChartDocumen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9000">
                <a:schemeClr val="bg1">
                  <a:lumMod val="85000"/>
                </a:schemeClr>
              </a:gs>
            </a:gsLst>
          </a:gra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chemeClr val="tx1"/>
                </a:solidFill>
              </a:rPr>
              <a:t>.</a:t>
            </a:r>
          </a:p>
          <a:p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FD6DF-1AD2-519C-E395-5C8AE4FF1E99}"/>
              </a:ext>
            </a:extLst>
          </p:cNvPr>
          <p:cNvSpPr/>
          <p:nvPr/>
        </p:nvSpPr>
        <p:spPr>
          <a:xfrm>
            <a:off x="4195579" y="3235508"/>
            <a:ext cx="6765421" cy="3085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chemeClr val="tx1"/>
                </a:solidFill>
              </a:rPr>
              <a:t>## OUTPUT_FORMAT</a:t>
            </a:r>
          </a:p>
          <a:p>
            <a:r>
              <a:rPr lang="en-GB" sz="1050" dirty="0">
                <a:solidFill>
                  <a:schemeClr val="tx1"/>
                </a:solidFill>
              </a:rPr>
              <a:t>The output format must be</a:t>
            </a:r>
          </a:p>
          <a:p>
            <a:r>
              <a:rPr lang="en-GB" sz="1050" dirty="0">
                <a:solidFill>
                  <a:schemeClr val="tx1"/>
                </a:solidFill>
              </a:rPr>
              <a:t>1.</a:t>
            </a:r>
          </a:p>
          <a:p>
            <a:r>
              <a:rPr lang="en-GB" sz="1050" dirty="0">
                <a:solidFill>
                  <a:schemeClr val="tx1"/>
                </a:solidFill>
              </a:rPr>
              <a:t>2.</a:t>
            </a:r>
          </a:p>
          <a:p>
            <a:r>
              <a:rPr lang="en-GB" sz="1050" dirty="0">
                <a:solidFill>
                  <a:schemeClr val="tx1"/>
                </a:solidFill>
              </a:rPr>
              <a:t>...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100" b="1" dirty="0">
                <a:solidFill>
                  <a:schemeClr val="tx1"/>
                </a:solidFill>
              </a:rPr>
              <a:t>## FEW_SHOT_EXAMPLES</a:t>
            </a:r>
          </a:p>
          <a:p>
            <a:r>
              <a:rPr lang="en-GB" sz="1050" dirty="0">
                <a:solidFill>
                  <a:schemeClr val="tx1"/>
                </a:solidFill>
              </a:rPr>
              <a:t>Here we provide some examples:</a:t>
            </a:r>
          </a:p>
          <a:p>
            <a:r>
              <a:rPr lang="en-GB" sz="1050" dirty="0">
                <a:solidFill>
                  <a:schemeClr val="tx1"/>
                </a:solidFill>
              </a:rPr>
              <a:t>1. Example #1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050" dirty="0">
                <a:solidFill>
                  <a:schemeClr val="tx1"/>
                </a:solidFill>
              </a:rPr>
              <a:t>Input:</a:t>
            </a:r>
          </a:p>
          <a:p>
            <a:r>
              <a:rPr lang="en-GB" sz="1050" dirty="0">
                <a:solidFill>
                  <a:schemeClr val="tx1"/>
                </a:solidFill>
              </a:rPr>
              <a:t>Thoughts:</a:t>
            </a:r>
          </a:p>
          <a:p>
            <a:r>
              <a:rPr lang="en-GB" sz="1050" dirty="0">
                <a:solidFill>
                  <a:schemeClr val="tx1"/>
                </a:solidFill>
              </a:rPr>
              <a:t>Output: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050" dirty="0">
                <a:solidFill>
                  <a:schemeClr val="tx1"/>
                </a:solidFill>
              </a:rPr>
              <a:t>...</a:t>
            </a:r>
          </a:p>
          <a:p>
            <a:endParaRPr lang="en-GB" sz="1050" dirty="0">
              <a:solidFill>
                <a:schemeClr val="tx1"/>
              </a:solidFill>
            </a:endParaRPr>
          </a:p>
          <a:p>
            <a:r>
              <a:rPr lang="en-GB" sz="1100" b="1" dirty="0">
                <a:solidFill>
                  <a:schemeClr val="tx1"/>
                </a:solidFill>
              </a:rPr>
              <a:t>## RECAP</a:t>
            </a:r>
          </a:p>
          <a:p>
            <a:r>
              <a:rPr lang="en-GB" sz="1050" dirty="0">
                <a:solidFill>
                  <a:schemeClr val="tx1"/>
                </a:solidFill>
              </a:rPr>
              <a:t>Re-emphasise the key aspects of the prompt, especially the constraints, output format, etc.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63E26-0955-A71D-0DC6-B2C8A51B10D4}"/>
              </a:ext>
            </a:extLst>
          </p:cNvPr>
          <p:cNvSpPr txBox="1"/>
          <p:nvPr/>
        </p:nvSpPr>
        <p:spPr>
          <a:xfrm>
            <a:off x="7397791" y="111871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E0918-9F1E-B123-92CE-2381B1CCC21C}"/>
              </a:ext>
            </a:extLst>
          </p:cNvPr>
          <p:cNvSpPr txBox="1"/>
          <p:nvPr/>
        </p:nvSpPr>
        <p:spPr>
          <a:xfrm>
            <a:off x="10260809" y="286617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93683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0B99-4C48-8039-69D6-C21A5915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DDC1-9132-2B24-4C5C-F879E9FD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“Prompt engineering”: Core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FC5A9-CEE4-DE82-E0CE-3ECBF1130AC5}"/>
              </a:ext>
            </a:extLst>
          </p:cNvPr>
          <p:cNvSpPr txBox="1"/>
          <p:nvPr/>
        </p:nvSpPr>
        <p:spPr>
          <a:xfrm>
            <a:off x="6560085" y="943414"/>
            <a:ext cx="4843367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all the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information 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needed to complete the task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well as a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you could also provide information about the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audience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instructions 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how you expect the task to be completed and in what sequence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the context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any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constraints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rules critical for the task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B260D5C3-FB6F-820E-1357-56012871330B}"/>
              </a:ext>
            </a:extLst>
          </p:cNvPr>
          <p:cNvSpPr/>
          <p:nvPr/>
        </p:nvSpPr>
        <p:spPr>
          <a:xfrm>
            <a:off x="964834" y="920299"/>
            <a:ext cx="5205891" cy="5758797"/>
          </a:xfrm>
          <a:prstGeom prst="flowChartDocumen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9000">
                <a:schemeClr val="bg1">
                  <a:lumMod val="85000"/>
                </a:schemeClr>
              </a:gs>
            </a:gsLst>
          </a:gra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>
                <a:solidFill>
                  <a:schemeClr val="tx1"/>
                </a:solidFill>
              </a:rPr>
              <a:t>## OBJECTIVE_AND_PERSONA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You are a [insert a persona, such as a "math teacher" or "automotive expert"]. Your task is to...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## INSTRUCTIONS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To complete the task, you need to follow these steps: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1.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2. …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---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*Optional Components*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---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## CONSTRAINTS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Dos and don'ts for the following aspects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1. Dos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2. Don'ts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## CONTEXT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The provided context</a:t>
            </a:r>
          </a:p>
        </p:txBody>
      </p:sp>
    </p:spTree>
    <p:extLst>
      <p:ext uri="{BB962C8B-B14F-4D97-AF65-F5344CB8AC3E}">
        <p14:creationId xmlns:p14="http://schemas.microsoft.com/office/powerpoint/2010/main" val="132262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CCA0-00DA-9050-9E13-B05D41D7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00FD-20D3-2490-B211-50EF5C43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“Prompt engineering”: Optional 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1EC14-8A8A-3445-707D-07203A3008A4}"/>
              </a:ext>
            </a:extLst>
          </p:cNvPr>
          <p:cNvSpPr txBox="1"/>
          <p:nvPr/>
        </p:nvSpPr>
        <p:spPr>
          <a:xfrm>
            <a:off x="6692666" y="1170159"/>
            <a:ext cx="484336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using – e.g.: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types 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include: format/ style/ tone/ volume/ structure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Few-shot examples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the AI to provide its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Specify grounding sources 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the AI should use to perform the task (e.g., “cross-reference to Google Search”)</a:t>
            </a:r>
          </a:p>
          <a:p>
            <a:pPr marL="360363" indent="-360363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Specify tools 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“use Python code to…”)</a:t>
            </a:r>
          </a:p>
        </p:txBody>
      </p: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9C57C9C0-966A-9CE8-BD66-001D9FE15344}"/>
              </a:ext>
            </a:extLst>
          </p:cNvPr>
          <p:cNvSpPr/>
          <p:nvPr/>
        </p:nvSpPr>
        <p:spPr>
          <a:xfrm rot="10800000">
            <a:off x="655966" y="937996"/>
            <a:ext cx="5491161" cy="5758137"/>
          </a:xfrm>
          <a:prstGeom prst="flowChartDocumen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9000">
                <a:schemeClr val="bg1">
                  <a:lumMod val="85000"/>
                </a:schemeClr>
              </a:gs>
            </a:gsLst>
          </a:gra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>
                <a:solidFill>
                  <a:schemeClr val="tx1"/>
                </a:solidFill>
              </a:rPr>
              <a:t>.</a:t>
            </a:r>
          </a:p>
          <a:p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17E92-FB9A-ECE1-10C0-6766DEFA351A}"/>
              </a:ext>
            </a:extLst>
          </p:cNvPr>
          <p:cNvSpPr/>
          <p:nvPr/>
        </p:nvSpPr>
        <p:spPr>
          <a:xfrm>
            <a:off x="655967" y="2158210"/>
            <a:ext cx="5491162" cy="43750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## OUTPUT_FORMAT</a:t>
            </a:r>
          </a:p>
          <a:p>
            <a:r>
              <a:rPr lang="en-GB" sz="1600" dirty="0">
                <a:solidFill>
                  <a:schemeClr val="tx1"/>
                </a:solidFill>
              </a:rPr>
              <a:t>The output format must be</a:t>
            </a:r>
          </a:p>
          <a:p>
            <a:r>
              <a:rPr lang="en-GB" sz="1600" dirty="0">
                <a:solidFill>
                  <a:schemeClr val="tx1"/>
                </a:solidFill>
              </a:rPr>
              <a:t>1.</a:t>
            </a:r>
          </a:p>
          <a:p>
            <a:r>
              <a:rPr lang="en-GB" sz="1600" dirty="0">
                <a:solidFill>
                  <a:schemeClr val="tx1"/>
                </a:solidFill>
              </a:rPr>
              <a:t>2....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## FEW_SHOT_EXAMPLES</a:t>
            </a:r>
          </a:p>
          <a:p>
            <a:r>
              <a:rPr lang="en-GB" sz="1600" dirty="0">
                <a:solidFill>
                  <a:schemeClr val="tx1"/>
                </a:solidFill>
              </a:rPr>
              <a:t>Here we provide some examples:</a:t>
            </a:r>
          </a:p>
          <a:p>
            <a:r>
              <a:rPr lang="en-GB" sz="1600" dirty="0">
                <a:solidFill>
                  <a:schemeClr val="tx1"/>
                </a:solidFill>
              </a:rPr>
              <a:t>1. Example #1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Input:</a:t>
            </a:r>
          </a:p>
          <a:p>
            <a:r>
              <a:rPr lang="en-GB" sz="1600" dirty="0">
                <a:solidFill>
                  <a:schemeClr val="tx1"/>
                </a:solidFill>
              </a:rPr>
              <a:t>Thoughts:</a:t>
            </a:r>
          </a:p>
          <a:p>
            <a:r>
              <a:rPr lang="en-GB" sz="1600" dirty="0">
                <a:solidFill>
                  <a:schemeClr val="tx1"/>
                </a:solidFill>
              </a:rPr>
              <a:t>Output: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...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## RECAP</a:t>
            </a:r>
          </a:p>
          <a:p>
            <a:r>
              <a:rPr lang="en-GB" sz="1600" dirty="0">
                <a:solidFill>
                  <a:schemeClr val="tx1"/>
                </a:solidFill>
              </a:rPr>
              <a:t>Re-emphasise the key aspects of the prompt, especially the constraints, output format, etc.</a:t>
            </a:r>
          </a:p>
        </p:txBody>
      </p:sp>
    </p:spTree>
    <p:extLst>
      <p:ext uri="{BB962C8B-B14F-4D97-AF65-F5344CB8AC3E}">
        <p14:creationId xmlns:p14="http://schemas.microsoft.com/office/powerpoint/2010/main" val="123879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426F-6A82-F89E-366A-E4067B65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6EC5-CBBC-6E3B-5D60-B553DD7E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prompting strategies – “Few-shot” examples / reasoning / chaining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1C16C5-2E00-F544-DB19-A3723C38A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607737"/>
            <a:ext cx="10754327" cy="4330220"/>
          </a:xfrm>
        </p:spPr>
        <p:txBody>
          <a:bodyPr/>
          <a:lstStyle/>
          <a:p>
            <a:pPr marL="360363" indent="-360363">
              <a:spcAft>
                <a:spcPts val="1200"/>
              </a:spcAft>
              <a:buSzPct val="70000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</a:t>
            </a:r>
            <a:r>
              <a:rPr lang="en-GB" sz="28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“few-shot” examples 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(small-scale ‘training’)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 the model to explain its </a:t>
            </a:r>
            <a:r>
              <a:rPr lang="en-GB" sz="28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(“</a:t>
            </a:r>
            <a:r>
              <a:rPr lang="en-GB" sz="28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chain of thought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”). 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35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Going through this process can sometimes improve accuracy, especially for challenging queries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GB" sz="28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chaining</a:t>
            </a:r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”: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35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complex tasks into smaller, sequential, and manageable steps</a:t>
            </a:r>
            <a:r>
              <a:rPr lang="en-GB" sz="235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the output of one prompt becomes the input for the next</a:t>
            </a:r>
            <a:endParaRPr lang="en-GB" sz="28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94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A8A9-B818-91FD-3AAC-E5C15E46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4F09-7A3C-E819-3BA3-94701570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the same sentence evaluation, using:</a:t>
            </a:r>
            <a:b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 basic prompt, ii) an engineered prompt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C55C70-C094-04C0-EABE-B364AD0CF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273454"/>
              </p:ext>
            </p:extLst>
          </p:nvPr>
        </p:nvGraphicFramePr>
        <p:xfrm>
          <a:off x="318565" y="1456995"/>
          <a:ext cx="1131524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5509">
                  <a:extLst>
                    <a:ext uri="{9D8B030D-6E8A-4147-A177-3AD203B41FA5}">
                      <a16:colId xmlns:a16="http://schemas.microsoft.com/office/drawing/2014/main" val="1422000917"/>
                    </a:ext>
                  </a:extLst>
                </a:gridCol>
                <a:gridCol w="1626427">
                  <a:extLst>
                    <a:ext uri="{9D8B030D-6E8A-4147-A177-3AD203B41FA5}">
                      <a16:colId xmlns:a16="http://schemas.microsoft.com/office/drawing/2014/main" val="1775533048"/>
                    </a:ext>
                  </a:extLst>
                </a:gridCol>
                <a:gridCol w="1226529">
                  <a:extLst>
                    <a:ext uri="{9D8B030D-6E8A-4147-A177-3AD203B41FA5}">
                      <a16:colId xmlns:a16="http://schemas.microsoft.com/office/drawing/2014/main" val="3956470523"/>
                    </a:ext>
                  </a:extLst>
                </a:gridCol>
                <a:gridCol w="1846783">
                  <a:extLst>
                    <a:ext uri="{9D8B030D-6E8A-4147-A177-3AD203B41FA5}">
                      <a16:colId xmlns:a16="http://schemas.microsoft.com/office/drawing/2014/main" val="3855936075"/>
                    </a:ext>
                  </a:extLst>
                </a:gridCol>
              </a:tblGrid>
              <a:tr h="451606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13960"/>
                  </a:ext>
                </a:extLst>
              </a:tr>
              <a:tr h="1357532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the following sentence relate to </a:t>
                      </a:r>
                      <a:r>
                        <a:rPr lang="en-GB" sz="2400" b="1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valuation</a:t>
                      </a:r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 </a:t>
                      </a:r>
                    </a:p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Answer yes or no.</a:t>
                      </a:r>
                    </a:p>
                    <a:p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“Due to </a:t>
                      </a:r>
                      <a:r>
                        <a:rPr lang="en-GB" sz="24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aggressive discounting</a:t>
                      </a:r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the firm experienced a decrease in </a:t>
                      </a:r>
                      <a:r>
                        <a:rPr lang="en-GB" sz="2400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cash inflows</a:t>
                      </a:r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Gemini-Flash-Lite-Latest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376794"/>
                  </a:ext>
                </a:extLst>
              </a:tr>
              <a:tr h="1841163">
                <a:tc>
                  <a:txBody>
                    <a:bodyPr/>
                    <a:lstStyle/>
                    <a:p>
                      <a:r>
                        <a:rPr lang="en-GB" sz="2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Engineered prompt here:                </a:t>
                      </a:r>
                    </a:p>
                    <a:p>
                      <a:endParaRPr lang="en-GB" sz="24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GB" sz="24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GB" sz="2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Few-shot examples here:                 </a:t>
                      </a:r>
                    </a:p>
                    <a:p>
                      <a:endParaRPr lang="en-GB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Gemini-Flash-Lite-Latest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956347"/>
                  </a:ext>
                </a:extLst>
              </a:tr>
            </a:tbl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F955DC3-6104-3A14-CC79-7FE3405D4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225141"/>
              </p:ext>
            </p:extLst>
          </p:nvPr>
        </p:nvGraphicFramePr>
        <p:xfrm>
          <a:off x="4144650" y="4478370"/>
          <a:ext cx="914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3" imgW="914567" imgH="780988" progId="Excel.SheetMacroEnabled.12">
                  <p:embed/>
                </p:oleObj>
              </mc:Choice>
              <mc:Fallback>
                <p:oleObj name="Macro-Enabled Worksheet" showAsIcon="1" r:id="rId3" imgW="914567" imgH="780988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4650" y="4478370"/>
                        <a:ext cx="9144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D2A2D20-EDC5-9B39-1102-EB594E71E3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642317"/>
              </p:ext>
            </p:extLst>
          </p:nvPr>
        </p:nvGraphicFramePr>
        <p:xfrm>
          <a:off x="4144650" y="3620924"/>
          <a:ext cx="914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5" imgW="914567" imgH="780988" progId="Word.Document.12">
                  <p:embed/>
                </p:oleObj>
              </mc:Choice>
              <mc:Fallback>
                <p:oleObj name="Document" showAsIcon="1" r:id="rId5" imgW="914567" imgH="7809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4650" y="3620924"/>
                        <a:ext cx="9144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0502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0139-49A4-9782-E920-25822577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384A-E051-42B7-2D35-B7F529F4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GB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Retrieval-Augmented Generation (RAG)</a:t>
            </a:r>
            <a:endParaRPr lang="en-US" sz="28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5E79EB-012B-D9E9-C08A-9495E308D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148498"/>
            <a:ext cx="10754327" cy="4470897"/>
          </a:xfrm>
        </p:spPr>
        <p:txBody>
          <a:bodyPr/>
          <a:lstStyle/>
          <a:p>
            <a:pPr marL="360363" indent="-360363">
              <a:spcAft>
                <a:spcPts val="1200"/>
              </a:spcAft>
              <a:buSzPct val="70000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 systems combine a general-purpose LLM with document retrieval mechanisms, allowing integration with </a:t>
            </a:r>
            <a:r>
              <a:rPr lang="en-GB" sz="24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user-supplied sources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400" dirty="0" err="1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NotebookLM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developed by Google, is an example for everyday use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Google account is required to use it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tier (limited to 100 docs/’sources’)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output formats, including text (chat), audio (podcast) or flash cards/ quiz</a:t>
            </a:r>
          </a:p>
          <a:p>
            <a:pPr marL="760413" lvl="3" indent="-360363">
              <a:spcAft>
                <a:spcPts val="1200"/>
              </a:spcAft>
              <a:buSzPct val="70000"/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https://notebooklm.google.com/</a:t>
            </a:r>
            <a:endParaRPr lang="en-GB" sz="24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you hear of corporates developing “their own LLM”, it’s likely this is a RAG system (e.g., </a:t>
            </a:r>
            <a:r>
              <a:rPr lang="en-GB" sz="2400" dirty="0" err="1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BloombergGPT</a:t>
            </a:r>
            <a:r>
              <a:rPr lang="en-GB" sz="24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https://assets.kpmg.com/content/dam/kpmg/xx/pdf/2024/04/ai-in-financial-reporting-and-audit-web.pdf</a:t>
            </a:r>
            <a:endParaRPr lang="en-GB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1E6E7-6869-941F-16E1-1719C3CDD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498" y="248859"/>
            <a:ext cx="2387298" cy="4446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D328BA-F4DC-7BEE-0A23-3BE5644361D9}"/>
              </a:ext>
            </a:extLst>
          </p:cNvPr>
          <p:cNvSpPr/>
          <p:nvPr/>
        </p:nvSpPr>
        <p:spPr>
          <a:xfrm>
            <a:off x="123886" y="6200223"/>
            <a:ext cx="5610287" cy="5958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bg1"/>
                </a:solidFill>
              </a:rPr>
              <a:t>What does the document say about the use of AI in financial reporting and audit, and what does it mean for the type of graduate jobs there will be in 3 years' time?</a:t>
            </a:r>
          </a:p>
        </p:txBody>
      </p:sp>
    </p:spTree>
    <p:extLst>
      <p:ext uri="{BB962C8B-B14F-4D97-AF65-F5344CB8AC3E}">
        <p14:creationId xmlns:p14="http://schemas.microsoft.com/office/powerpoint/2010/main" val="1416347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686B6-ED73-F70C-0FC3-5AC7428D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C6FE-18A6-34D0-AFA8-C1BC1F25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AI-as-judge framework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10B35C-0BBA-5CF5-EC60-7D5FB489D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062356"/>
            <a:ext cx="10754327" cy="2699105"/>
          </a:xfrm>
        </p:spPr>
        <p:txBody>
          <a:bodyPr/>
          <a:lstStyle/>
          <a:p>
            <a:pPr marL="360363" indent="-360363">
              <a:spcAft>
                <a:spcPts val="1200"/>
              </a:spcAft>
              <a:buSzPct val="70000"/>
            </a:pPr>
            <a:r>
              <a:rPr lang="en-GB" sz="22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AI-as-judge </a:t>
            </a:r>
            <a:r>
              <a:rPr lang="en-GB" sz="22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second LLM (Model B) to evaluate the response produced by another (Model A)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2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judge (Model B) is given the original input and prompt, together with the output generated by Model A, and is instructed to </a:t>
            </a:r>
            <a:r>
              <a:rPr lang="en-GB" sz="22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whether the response satisfies specified </a:t>
            </a:r>
            <a:r>
              <a:rPr lang="en-GB" sz="2200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(self-provided) </a:t>
            </a:r>
            <a:r>
              <a:rPr lang="en-GB" sz="2200" b="1" i="1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criteria</a:t>
            </a:r>
          </a:p>
          <a:p>
            <a:pPr marL="360363" indent="-360363">
              <a:spcAft>
                <a:spcPts val="1200"/>
              </a:spcAft>
              <a:buSzPct val="70000"/>
            </a:pPr>
            <a:r>
              <a:rPr lang="en-GB" sz="22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judge produces an evaluation indicating the quality of Model A’s response</a:t>
            </a:r>
          </a:p>
          <a:p>
            <a:pPr marL="360363" indent="-360363">
              <a:spcAft>
                <a:spcPts val="1200"/>
              </a:spcAft>
              <a:buSzPct val="70000"/>
            </a:pPr>
            <a:endParaRPr lang="en-GB" sz="22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>
              <a:spcAft>
                <a:spcPts val="1200"/>
              </a:spcAft>
              <a:buSzPct val="70000"/>
            </a:pPr>
            <a:endParaRPr lang="en-GB" sz="22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>
              <a:spcAft>
                <a:spcPts val="1200"/>
              </a:spcAft>
              <a:buSzPct val="70000"/>
            </a:pPr>
            <a:endParaRPr lang="en-GB" sz="2200" dirty="0">
              <a:solidFill>
                <a:srgbClr val="394A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CC410-96F6-DE52-8836-BDC06E470A69}"/>
              </a:ext>
            </a:extLst>
          </p:cNvPr>
          <p:cNvSpPr txBox="1"/>
          <p:nvPr/>
        </p:nvSpPr>
        <p:spPr>
          <a:xfrm>
            <a:off x="2743201" y="3804194"/>
            <a:ext cx="101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9540C0-1B5E-C186-CD3B-F610E79715FA}"/>
              </a:ext>
            </a:extLst>
          </p:cNvPr>
          <p:cNvSpPr/>
          <p:nvPr/>
        </p:nvSpPr>
        <p:spPr>
          <a:xfrm>
            <a:off x="1595313" y="4459917"/>
            <a:ext cx="1277672" cy="5309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 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3FCF49-5C54-49ED-E570-799186D39BCE}"/>
              </a:ext>
            </a:extLst>
          </p:cNvPr>
          <p:cNvSpPr/>
          <p:nvPr/>
        </p:nvSpPr>
        <p:spPr>
          <a:xfrm>
            <a:off x="1595313" y="5191436"/>
            <a:ext cx="1277672" cy="5309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Prompt 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E928EA-AABC-D483-A1D9-73C715960353}"/>
              </a:ext>
            </a:extLst>
          </p:cNvPr>
          <p:cNvSpPr/>
          <p:nvPr/>
        </p:nvSpPr>
        <p:spPr>
          <a:xfrm>
            <a:off x="3409828" y="4798658"/>
            <a:ext cx="1277672" cy="5309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95E6A3-32A8-F4F0-168E-A215B151F2AF}"/>
              </a:ext>
            </a:extLst>
          </p:cNvPr>
          <p:cNvSpPr txBox="1"/>
          <p:nvPr/>
        </p:nvSpPr>
        <p:spPr>
          <a:xfrm>
            <a:off x="7944638" y="380419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B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F0857213-102B-1A0E-448E-9DBFDCC3D494}"/>
              </a:ext>
            </a:extLst>
          </p:cNvPr>
          <p:cNvSpPr/>
          <p:nvPr/>
        </p:nvSpPr>
        <p:spPr>
          <a:xfrm>
            <a:off x="3002772" y="4294735"/>
            <a:ext cx="277269" cy="15043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1050342-2270-BC1E-2B2A-5488AB422C23}"/>
              </a:ext>
            </a:extLst>
          </p:cNvPr>
          <p:cNvSpPr/>
          <p:nvPr/>
        </p:nvSpPr>
        <p:spPr>
          <a:xfrm>
            <a:off x="6943411" y="4267716"/>
            <a:ext cx="1277672" cy="5309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 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4112EC-BFFC-DC25-5A07-84F564A9DB91}"/>
              </a:ext>
            </a:extLst>
          </p:cNvPr>
          <p:cNvSpPr/>
          <p:nvPr/>
        </p:nvSpPr>
        <p:spPr>
          <a:xfrm>
            <a:off x="6943411" y="4999235"/>
            <a:ext cx="1277672" cy="5309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Prompt 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B7600F-3496-B099-1904-8E859C3B1057}"/>
              </a:ext>
            </a:extLst>
          </p:cNvPr>
          <p:cNvSpPr/>
          <p:nvPr/>
        </p:nvSpPr>
        <p:spPr>
          <a:xfrm>
            <a:off x="6985514" y="5730754"/>
            <a:ext cx="1277672" cy="5309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A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2403554F-C69C-4940-B383-DA50DBAA29B9}"/>
              </a:ext>
            </a:extLst>
          </p:cNvPr>
          <p:cNvSpPr/>
          <p:nvPr/>
        </p:nvSpPr>
        <p:spPr>
          <a:xfrm>
            <a:off x="8463781" y="4173526"/>
            <a:ext cx="277269" cy="21977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Graphic 26" descr="Clipboard Partially Ticked with solid fill">
            <a:extLst>
              <a:ext uri="{FF2B5EF4-FFF2-40B4-BE49-F238E27FC236}">
                <a16:creationId xmlns:a16="http://schemas.microsoft.com/office/drawing/2014/main" id="{51CBEC55-134E-65CB-7B42-0BE59A00D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279" y="4533187"/>
            <a:ext cx="1517119" cy="151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4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859E9-E2F3-12C5-B270-4C4007B4A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1B37-D378-2BB3-28C5-D16CE511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24747"/>
            <a:ext cx="11315248" cy="785542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394A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Although it doesn’t help with hallucinations, using pinned models can deliver results with less unexpected variation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A71F1D-E695-3A04-6C80-1030F8A0B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7560"/>
              </p:ext>
            </p:extLst>
          </p:nvPr>
        </p:nvGraphicFramePr>
        <p:xfrm>
          <a:off x="437548" y="1585055"/>
          <a:ext cx="11089792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529">
                  <a:extLst>
                    <a:ext uri="{9D8B030D-6E8A-4147-A177-3AD203B41FA5}">
                      <a16:colId xmlns:a16="http://schemas.microsoft.com/office/drawing/2014/main" val="2633251323"/>
                    </a:ext>
                  </a:extLst>
                </a:gridCol>
                <a:gridCol w="2949678">
                  <a:extLst>
                    <a:ext uri="{9D8B030D-6E8A-4147-A177-3AD203B41FA5}">
                      <a16:colId xmlns:a16="http://schemas.microsoft.com/office/drawing/2014/main" val="3732533312"/>
                    </a:ext>
                  </a:extLst>
                </a:gridCol>
                <a:gridCol w="2235854">
                  <a:extLst>
                    <a:ext uri="{9D8B030D-6E8A-4147-A177-3AD203B41FA5}">
                      <a16:colId xmlns:a16="http://schemas.microsoft.com/office/drawing/2014/main" val="2116938253"/>
                    </a:ext>
                  </a:extLst>
                </a:gridCol>
                <a:gridCol w="4294731">
                  <a:extLst>
                    <a:ext uri="{9D8B030D-6E8A-4147-A177-3AD203B41FA5}">
                      <a16:colId xmlns:a16="http://schemas.microsoft.com/office/drawing/2014/main" val="4288472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Considerations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7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Standard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Models have different functionality</a:t>
                      </a:r>
                    </a:p>
                    <a:p>
                      <a:endParaRPr lang="en-GB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Functionality (performance) is upgraded periodically</a:t>
                      </a:r>
                    </a:p>
                    <a:p>
                      <a:endParaRPr lang="en-GB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 3 Pro</a:t>
                      </a:r>
                    </a:p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 2.5 Pro</a:t>
                      </a:r>
                    </a:p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 2.5 Flash</a:t>
                      </a:r>
                    </a:p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Gemini 2.0 Flash-Lite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Subject to ‘model drift’</a:t>
                      </a:r>
                    </a:p>
                    <a:p>
                      <a:pPr marL="176213" indent="-176213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Answers to the same prompt may change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470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Pinned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Models which are fixed (and not updated) to a specific date. Fixed functionality and training 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gpt-4.1-</a:t>
                      </a:r>
                      <a:r>
                        <a:rPr lang="en-GB" sz="20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2025-04-14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all model providers currently offer pinned models</a:t>
                      </a:r>
                    </a:p>
                    <a:p>
                      <a:pPr marL="176213" indent="-176213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NB. Gemini is subject to ‘model drift’ even for models with a fixed version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107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200533"/>
      </p:ext>
    </p:extLst>
  </p:cSld>
  <p:clrMapOvr>
    <a:masterClrMapping/>
  </p:clrMapOvr>
</p:sld>
</file>

<file path=ppt/theme/theme1.xml><?xml version="1.0" encoding="utf-8"?>
<a:theme xmlns:a="http://schemas.openxmlformats.org/drawingml/2006/main" name="Grey master final Unlocke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ty University Lond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ity University London 1">
        <a:dk1>
          <a:srgbClr val="000000"/>
        </a:dk1>
        <a:lt1>
          <a:srgbClr val="FFFFFF"/>
        </a:lt1>
        <a:dk2>
          <a:srgbClr val="E31B23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ityUoL-Bayes-16x9_PPT_2022_V2  -  Read-Only" id="{B520F149-8F49-436D-AA24-48761801DBB9}" vid="{0CDC9E4F-A275-4286-9A1E-C1E24A86D37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73282</TotalTime>
  <Words>1534</Words>
  <Application>Microsoft Office PowerPoint</Application>
  <PresentationFormat>Widescreen</PresentationFormat>
  <Paragraphs>265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Amasis MT Pro</vt:lpstr>
      <vt:lpstr>Arial</vt:lpstr>
      <vt:lpstr>Calibri</vt:lpstr>
      <vt:lpstr>Lucida Grande</vt:lpstr>
      <vt:lpstr>Wingdings</vt:lpstr>
      <vt:lpstr>Grey master final Unlocked</vt:lpstr>
      <vt:lpstr>Macro-Enabled Worksheet</vt:lpstr>
      <vt:lpstr>Microsoft Word Document</vt:lpstr>
      <vt:lpstr>Introduction to LLMs  Week 8</vt:lpstr>
      <vt:lpstr>Introduction to LLMs</vt:lpstr>
      <vt:lpstr>Two main ways to access LLMs </vt:lpstr>
      <vt:lpstr>The main challenge with using LLMs is the “hallucinations”</vt:lpstr>
      <vt:lpstr>What happens when you don’t address hallucinations</vt:lpstr>
      <vt:lpstr>This session will summarise several tools and techniques which can help mitigate the effects of hallucinations</vt:lpstr>
      <vt:lpstr>1) Adjusting LLM (hyper)parameters</vt:lpstr>
      <vt:lpstr>Let’s test the effect of different hyperparameters using Google AI Studio (ai.dev)</vt:lpstr>
      <vt:lpstr>General guidelines for Top_P and Temperature settings </vt:lpstr>
      <vt:lpstr>2) “Prompt engineering” helps to mitigate hallucinations</vt:lpstr>
      <vt:lpstr>Prompt engineering ‘template’</vt:lpstr>
      <vt:lpstr>2) “Prompt engineering”: Core information</vt:lpstr>
      <vt:lpstr>2) “Prompt engineering”: Optional components</vt:lpstr>
      <vt:lpstr>Other prompting strategies – “Few-shot” examples / reasoning / chaining</vt:lpstr>
      <vt:lpstr>Perform the same sentence evaluation, using:  i) a basic prompt, ii) an engineered prompt</vt:lpstr>
      <vt:lpstr>3) Retrieval-Augmented Generation (RAG)</vt:lpstr>
      <vt:lpstr>4) AI-as-judge framework</vt:lpstr>
      <vt:lpstr>5) Although it doesn’t help with hallucinations, using pinned models can deliver results with less unexpected variation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Richard Blades</dc:creator>
  <cp:lastModifiedBy>Richard Blades</cp:lastModifiedBy>
  <cp:revision>2754</cp:revision>
  <cp:lastPrinted>2025-03-20T11:41:49Z</cp:lastPrinted>
  <dcterms:created xsi:type="dcterms:W3CDTF">2023-11-09T14:19:12Z</dcterms:created>
  <dcterms:modified xsi:type="dcterms:W3CDTF">2026-03-16T11:44:29Z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c24981-b6df-48f8-949b-0896357b9b03_Enabled">
    <vt:lpwstr>true</vt:lpwstr>
  </property>
  <property fmtid="{D5CDD505-2E9C-101B-9397-08002B2CF9AE}" pid="3" name="MSIP_Label_06c24981-b6df-48f8-949b-0896357b9b03_SetDate">
    <vt:lpwstr>2021-06-15T14:49:26Z</vt:lpwstr>
  </property>
  <property fmtid="{D5CDD505-2E9C-101B-9397-08002B2CF9AE}" pid="4" name="MSIP_Label_06c24981-b6df-48f8-949b-0896357b9b03_Method">
    <vt:lpwstr>Privileged</vt:lpwstr>
  </property>
  <property fmtid="{D5CDD505-2E9C-101B-9397-08002B2CF9AE}" pid="5" name="MSIP_Label_06c24981-b6df-48f8-949b-0896357b9b03_Name">
    <vt:lpwstr>Official</vt:lpwstr>
  </property>
  <property fmtid="{D5CDD505-2E9C-101B-9397-08002B2CF9AE}" pid="6" name="MSIP_Label_06c24981-b6df-48f8-949b-0896357b9b03_SiteId">
    <vt:lpwstr>dd615949-5bd0-4da0-ac52-28ef8d336373</vt:lpwstr>
  </property>
  <property fmtid="{D5CDD505-2E9C-101B-9397-08002B2CF9AE}" pid="7" name="MSIP_Label_06c24981-b6df-48f8-949b-0896357b9b03_ActionId">
    <vt:lpwstr>648e491b-9794-49ea-b447-4adeb8111375</vt:lpwstr>
  </property>
  <property fmtid="{D5CDD505-2E9C-101B-9397-08002B2CF9AE}" pid="8" name="MSIP_Label_06c24981-b6df-48f8-949b-0896357b9b03_ContentBits">
    <vt:lpwstr>0</vt:lpwstr>
  </property>
</Properties>
</file>